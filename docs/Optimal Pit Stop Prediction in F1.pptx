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2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64A4-865C-4A72-A42C-606483588BD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A6E9-E9D4-43CA-A1D3-E72DC71477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080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64A4-865C-4A72-A42C-606483588BD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A6E9-E9D4-43CA-A1D3-E72DC71477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366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64A4-865C-4A72-A42C-606483588BD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A6E9-E9D4-43CA-A1D3-E72DC71477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439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64A4-865C-4A72-A42C-606483588BD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A6E9-E9D4-43CA-A1D3-E72DC71477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496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64A4-865C-4A72-A42C-606483588BD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A6E9-E9D4-43CA-A1D3-E72DC71477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14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64A4-865C-4A72-A42C-606483588BD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A6E9-E9D4-43CA-A1D3-E72DC71477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861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64A4-865C-4A72-A42C-606483588BD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A6E9-E9D4-43CA-A1D3-E72DC71477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39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64A4-865C-4A72-A42C-606483588BD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A6E9-E9D4-43CA-A1D3-E72DC71477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815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64A4-865C-4A72-A42C-606483588BD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A6E9-E9D4-43CA-A1D3-E72DC71477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46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64A4-865C-4A72-A42C-606483588BD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A6E9-E9D4-43CA-A1D3-E72DC71477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69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64A4-865C-4A72-A42C-606483588BD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A6E9-E9D4-43CA-A1D3-E72DC71477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263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64A4-865C-4A72-A42C-606483588BD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A6E9-E9D4-43CA-A1D3-E72DC7147775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93669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64A4-865C-4A72-A42C-606483588BD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A6E9-E9D4-43CA-A1D3-E72DC71477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3211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64A4-865C-4A72-A42C-606483588BD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A6E9-E9D4-43CA-A1D3-E72DC71477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2172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64A4-865C-4A72-A42C-606483588BD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A6E9-E9D4-43CA-A1D3-E72DC71477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026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64A4-865C-4A72-A42C-606483588BD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A6E9-E9D4-43CA-A1D3-E72DC71477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4564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64A4-865C-4A72-A42C-606483588BD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A6E9-E9D4-43CA-A1D3-E72DC71477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328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01D64A4-865C-4A72-A42C-606483588BD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5EAA6E9-E9D4-43CA-A1D3-E72DC71477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6535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d Bull launches new 2022 F1 car with big 'unknowns' for Max Verstappen |  Metro News">
            <a:extLst>
              <a:ext uri="{FF2B5EF4-FFF2-40B4-BE49-F238E27FC236}">
                <a16:creationId xmlns:a16="http://schemas.microsoft.com/office/drawing/2014/main" id="{455B3FA0-C021-09A7-28AA-D58DC331D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09" b="10021"/>
          <a:stretch>
            <a:fillRect/>
          </a:stretch>
        </p:blipFill>
        <p:spPr bwMode="auto">
          <a:xfrm>
            <a:off x="20" y="9842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B3A034-20A3-F940-5A03-4F1CA862D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>
            <a:normAutofit/>
          </a:bodyPr>
          <a:lstStyle/>
          <a:p>
            <a:r>
              <a:rPr lang="en-US" dirty="0"/>
              <a:t>Optimal Pit Stop Prediction in F1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FF885-C79E-8529-F396-CCE9FB5949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3573" y="4620265"/>
            <a:ext cx="9440034" cy="1495212"/>
          </a:xfrm>
        </p:spPr>
        <p:txBody>
          <a:bodyPr>
            <a:normAutofit fontScale="70000" lnSpcReduction="20000"/>
          </a:bodyPr>
          <a:lstStyle/>
          <a:p>
            <a:pPr lvl="0" algn="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en-US" sz="1900" dirty="0">
                <a:ln>
                  <a:noFill/>
                </a:ln>
                <a:effectLst/>
                <a:latin typeface="Arial" panose="020B0604020202020204" pitchFamily="34" charset="0"/>
              </a:rPr>
              <a:t>Presenter: Nazifa Shaikh</a:t>
            </a:r>
          </a:p>
          <a:p>
            <a:pPr lvl="0" algn="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pt-BR" altLang="en-US" sz="190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0" algn="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nl-NL" altLang="en-US" sz="1900" dirty="0">
                <a:ln>
                  <a:noFill/>
                </a:ln>
                <a:effectLst/>
                <a:latin typeface="Arial" panose="020B0604020202020204" pitchFamily="34" charset="0"/>
              </a:rPr>
              <a:t>Student ID: 001449359</a:t>
            </a:r>
          </a:p>
          <a:p>
            <a:pPr lvl="0" algn="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90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0" algn="r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900" dirty="0">
                <a:ln>
                  <a:noFill/>
                </a:ln>
                <a:effectLst/>
                <a:latin typeface="Arial" panose="020B0604020202020204" pitchFamily="34" charset="0"/>
              </a:rPr>
              <a:t>Supervisor: Samuel </a:t>
            </a:r>
            <a:r>
              <a:rPr lang="en-US" altLang="en-US" sz="1900" dirty="0" err="1">
                <a:ln>
                  <a:noFill/>
                </a:ln>
                <a:effectLst/>
                <a:latin typeface="Arial" panose="020B0604020202020204" pitchFamily="34" charset="0"/>
              </a:rPr>
              <a:t>Zelibe</a:t>
            </a:r>
            <a:endParaRPr lang="en-US" altLang="en-US" sz="190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0" algn="r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90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0" algn="r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900" dirty="0">
                <a:ln>
                  <a:noFill/>
                </a:ln>
                <a:effectLst/>
                <a:latin typeface="Arial" panose="020B0604020202020204" pitchFamily="34" charset="0"/>
              </a:rPr>
              <a:t>Course: Data Science and its Applications</a:t>
            </a:r>
          </a:p>
          <a:p>
            <a:pPr lvl="0" algn="r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90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0" algn="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900" dirty="0">
                <a:ln>
                  <a:noFill/>
                </a:ln>
                <a:effectLst/>
                <a:latin typeface="Arial" panose="020B0604020202020204" pitchFamily="34" charset="0"/>
              </a:rPr>
              <a:t>Submission Date: 17/12/2025</a:t>
            </a:r>
          </a:p>
          <a:p>
            <a:pPr>
              <a:lnSpc>
                <a:spcPct val="90000"/>
              </a:lnSpc>
            </a:pP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1903343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FC2AA-DBF4-8C93-585E-E05145D6A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ptos" panose="020B0004020202020204" pitchFamily="34" charset="0"/>
              </a:rPr>
              <a:t>Introduction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17A6C1F9-FA13-7926-40F4-E0C9589228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2355" y="2051403"/>
            <a:ext cx="634340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Formula 1 pit stops are decisive for race outcomes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Wrong timing → lost positions, wasted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tyre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potential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Predicting optimal timing is a complex but critical challenge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Machine learning offers a data‑driven solutio</a:t>
            </a:r>
            <a:r>
              <a:rPr lang="en-US" altLang="en-US" sz="180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867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19CFD-6159-A1B4-1CE7-AF53B047E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ptos" panose="020B0004020202020204" pitchFamily="34" charset="0"/>
              </a:rPr>
              <a:t>Literature Review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71C173-8254-7C75-0F61-0472E62FC0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" y="1988072"/>
            <a:ext cx="1219200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Aalto University Thesis (2023)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Explored machine learning methods for race strategy optimization, highlighting the role of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tyre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degradation and pit stop timing in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National College of Ireland Dissertation (2021, Rao)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Developed predictive analytics models for Formula 1 race outcomes, emphasizing pit stop timing as a critical factor in success.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Nova University Lisbon Thesis (2024) – </a:t>
            </a:r>
            <a:r>
              <a:rPr kumimoji="0" lang="en-US" altLang="en-US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From Data to Podium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Proposed a machine learning framework for predicting pit stop timing using lap‑by‑lap telemetry, testing multiple architectures including GRU and LSTM.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International Journal of Machine Learning (2023)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Compared deep learning models (Bi‑LSTM, GRU, CNN‑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BiLSTM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) for pit stop prediction, showing Bi‑LSTM achieved strong precision/recall.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Frontiers in Artificial Intelligence (2025)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Discussed explainable AI in motorsport strategy, stressing the need for interpretable models in pit stop prediction to build trust in real‑world deployment.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011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D2770-8DAB-62A0-1668-8628E77E3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ptos" panose="020B0004020202020204" pitchFamily="34" charset="0"/>
              </a:rPr>
              <a:t>Research Gap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121123E-DEC4-75A8-D406-AF51102AF8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607663"/>
            <a:ext cx="956018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Few studies apply sequence models (GRU/LSTM) to lap‑by‑lap pit prediction.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>
                <a:solidFill>
                  <a:schemeClr val="tx1"/>
                </a:solidFill>
                <a:latin typeface="Aptos" panose="020B0004020202020204" pitchFamily="34" charset="0"/>
              </a:rPr>
              <a:t>This model predicts laps until next pit stop — a more interpretable and strategy-aligned target.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Race context features (stint number, race progress, compound history) often missing.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Limited cross‑race generalization; many models risk overfitting to single races/seasons.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647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FD3F4-6407-5DF2-102B-E1A31EFBA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ptos" panose="020B0004020202020204" pitchFamily="34" charset="0"/>
              </a:rPr>
              <a:t>Data Loading &amp; Preprocessing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E4FBC7-6BE6-8029-A598-0AD89183F8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053664"/>
            <a:ext cx="686803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Source: 2024 lap‑by‑lap race data (FastF1)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Steps: 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• Stripped whitespace from column names</a:t>
            </a:r>
            <a:b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• Converted </a:t>
            </a:r>
            <a:r>
              <a:rPr lang="en-IN" dirty="0" err="1">
                <a:solidFill>
                  <a:schemeClr val="tx1"/>
                </a:solidFill>
                <a:latin typeface="Aptos" panose="020B0004020202020204" pitchFamily="34" charset="0"/>
              </a:rPr>
              <a:t>LapTime</a:t>
            </a: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 → seconds</a:t>
            </a:r>
            <a:b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• Median imputation for missing </a:t>
            </a:r>
            <a:r>
              <a:rPr lang="en-IN" dirty="0" err="1">
                <a:solidFill>
                  <a:schemeClr val="tx1"/>
                </a:solidFill>
                <a:latin typeface="Aptos" panose="020B0004020202020204" pitchFamily="34" charset="0"/>
              </a:rPr>
              <a:t>LapTimeSeconds</a:t>
            </a: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 and </a:t>
            </a:r>
            <a:r>
              <a:rPr lang="en-IN" dirty="0" err="1">
                <a:solidFill>
                  <a:schemeClr val="tx1"/>
                </a:solidFill>
                <a:latin typeface="Aptos" panose="020B0004020202020204" pitchFamily="34" charset="0"/>
              </a:rPr>
              <a:t>StintAge</a:t>
            </a:r>
            <a:b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• One-hot encoded tyre compounds</a:t>
            </a:r>
            <a:b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• Engineered features: </a:t>
            </a:r>
            <a:r>
              <a:rPr lang="en-IN" dirty="0" err="1">
                <a:solidFill>
                  <a:schemeClr val="tx1"/>
                </a:solidFill>
                <a:latin typeface="Aptos" panose="020B0004020202020204" pitchFamily="34" charset="0"/>
              </a:rPr>
              <a:t>StintAge</a:t>
            </a: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, </a:t>
            </a:r>
            <a:r>
              <a:rPr lang="en-IN" dirty="0" err="1">
                <a:solidFill>
                  <a:schemeClr val="tx1"/>
                </a:solidFill>
                <a:latin typeface="Aptos" panose="020B0004020202020204" pitchFamily="34" charset="0"/>
              </a:rPr>
              <a:t>PitStopEvent</a:t>
            </a: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, </a:t>
            </a:r>
            <a:r>
              <a:rPr lang="en-IN" dirty="0" err="1">
                <a:solidFill>
                  <a:schemeClr val="tx1"/>
                </a:solidFill>
                <a:latin typeface="Aptos" panose="020B0004020202020204" pitchFamily="34" charset="0"/>
              </a:rPr>
              <a:t>LapTimeDelta</a:t>
            </a:r>
            <a:b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• Scaled numerical features using </a:t>
            </a:r>
            <a:r>
              <a:rPr lang="en-IN" dirty="0" err="1">
                <a:solidFill>
                  <a:schemeClr val="tx1"/>
                </a:solidFill>
                <a:latin typeface="Aptos" panose="020B0004020202020204" pitchFamily="34" charset="0"/>
              </a:rPr>
              <a:t>RobustScaler</a:t>
            </a:r>
            <a:b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• Label engineered: capped </a:t>
            </a:r>
            <a:r>
              <a:rPr lang="en-IN" dirty="0" err="1">
                <a:solidFill>
                  <a:schemeClr val="tx1"/>
                </a:solidFill>
                <a:latin typeface="Aptos" panose="020B0004020202020204" pitchFamily="34" charset="0"/>
              </a:rPr>
              <a:t>LapsUntilPit</a:t>
            </a: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 (max 20 laps)</a:t>
            </a:r>
            <a:b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• Prepared sequences (15 laps) for GRU input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C94BE2B-C059-1004-D5FE-3362AE1BFE8A}"/>
              </a:ext>
            </a:extLst>
          </p:cNvPr>
          <p:cNvGrpSpPr/>
          <p:nvPr/>
        </p:nvGrpSpPr>
        <p:grpSpPr>
          <a:xfrm>
            <a:off x="9835361" y="1580050"/>
            <a:ext cx="1617755" cy="5144804"/>
            <a:chOff x="9707541" y="1351429"/>
            <a:chExt cx="1617755" cy="5144804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B35E6C3-71DB-6739-8B4B-4D94784C62F9}"/>
                </a:ext>
              </a:extLst>
            </p:cNvPr>
            <p:cNvGrpSpPr/>
            <p:nvPr/>
          </p:nvGrpSpPr>
          <p:grpSpPr>
            <a:xfrm>
              <a:off x="9707541" y="1351429"/>
              <a:ext cx="1581190" cy="4077948"/>
              <a:chOff x="8468360" y="1709845"/>
              <a:chExt cx="2169160" cy="5023780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048C0B1F-B525-9655-4121-A386E1FEF39E}"/>
                  </a:ext>
                </a:extLst>
              </p:cNvPr>
              <p:cNvCxnSpPr>
                <a:cxnSpLocks/>
                <a:stCxn id="5" idx="2"/>
                <a:endCxn id="6" idx="0"/>
              </p:cNvCxnSpPr>
              <p:nvPr/>
            </p:nvCxnSpPr>
            <p:spPr>
              <a:xfrm>
                <a:off x="9550400" y="2680295"/>
                <a:ext cx="5080" cy="355430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48A40DE9-3A06-2E36-4820-8D5817E850A6}"/>
                  </a:ext>
                </a:extLst>
              </p:cNvPr>
              <p:cNvGrpSpPr/>
              <p:nvPr/>
            </p:nvGrpSpPr>
            <p:grpSpPr>
              <a:xfrm>
                <a:off x="8468360" y="1709845"/>
                <a:ext cx="2169160" cy="5023780"/>
                <a:chOff x="8468360" y="1709845"/>
                <a:chExt cx="2169160" cy="5023780"/>
              </a:xfrm>
            </p:grpSpPr>
            <p:sp>
              <p:nvSpPr>
                <p:cNvPr id="5" name="Rectangle: Rounded Corners 4">
                  <a:extLst>
                    <a:ext uri="{FF2B5EF4-FFF2-40B4-BE49-F238E27FC236}">
                      <a16:creationId xmlns:a16="http://schemas.microsoft.com/office/drawing/2014/main" id="{4A9BF470-C459-C4DC-BB3E-B0ABCA9ADA1B}"/>
                    </a:ext>
                  </a:extLst>
                </p:cNvPr>
                <p:cNvSpPr/>
                <p:nvPr/>
              </p:nvSpPr>
              <p:spPr>
                <a:xfrm>
                  <a:off x="8468360" y="1709845"/>
                  <a:ext cx="2164080" cy="970450"/>
                </a:xfrm>
                <a:prstGeom prst="round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b="1" dirty="0"/>
                    <a:t>Raw Data</a:t>
                  </a:r>
                </a:p>
              </p:txBody>
            </p:sp>
            <p:sp>
              <p:nvSpPr>
                <p:cNvPr id="6" name="Rectangle: Rounded Corners 5">
                  <a:extLst>
                    <a:ext uri="{FF2B5EF4-FFF2-40B4-BE49-F238E27FC236}">
                      <a16:creationId xmlns:a16="http://schemas.microsoft.com/office/drawing/2014/main" id="{D618314D-04C2-92BC-0569-124E8A626841}"/>
                    </a:ext>
                  </a:extLst>
                </p:cNvPr>
                <p:cNvSpPr/>
                <p:nvPr/>
              </p:nvSpPr>
              <p:spPr>
                <a:xfrm>
                  <a:off x="8473440" y="3035725"/>
                  <a:ext cx="2164080" cy="970450"/>
                </a:xfrm>
                <a:prstGeom prst="round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b="1" dirty="0"/>
                    <a:t>Column Cleaning &amp; Imputation</a:t>
                  </a:r>
                </a:p>
              </p:txBody>
            </p:sp>
            <p:sp>
              <p:nvSpPr>
                <p:cNvPr id="7" name="Rectangle: Rounded Corners 6">
                  <a:extLst>
                    <a:ext uri="{FF2B5EF4-FFF2-40B4-BE49-F238E27FC236}">
                      <a16:creationId xmlns:a16="http://schemas.microsoft.com/office/drawing/2014/main" id="{901477C9-C8D0-B436-24F1-561887F23624}"/>
                    </a:ext>
                  </a:extLst>
                </p:cNvPr>
                <p:cNvSpPr/>
                <p:nvPr/>
              </p:nvSpPr>
              <p:spPr>
                <a:xfrm>
                  <a:off x="8473440" y="4437295"/>
                  <a:ext cx="2164080" cy="970450"/>
                </a:xfrm>
                <a:prstGeom prst="round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b="1" dirty="0"/>
                    <a:t>Feature Engineering</a:t>
                  </a:r>
                </a:p>
              </p:txBody>
            </p:sp>
            <p:sp>
              <p:nvSpPr>
                <p:cNvPr id="8" name="Rectangle: Rounded Corners 7">
                  <a:extLst>
                    <a:ext uri="{FF2B5EF4-FFF2-40B4-BE49-F238E27FC236}">
                      <a16:creationId xmlns:a16="http://schemas.microsoft.com/office/drawing/2014/main" id="{1A494AAB-2312-B548-44BB-A6219ECC5850}"/>
                    </a:ext>
                  </a:extLst>
                </p:cNvPr>
                <p:cNvSpPr/>
                <p:nvPr/>
              </p:nvSpPr>
              <p:spPr>
                <a:xfrm>
                  <a:off x="8473440" y="5763175"/>
                  <a:ext cx="2164080" cy="970450"/>
                </a:xfrm>
                <a:prstGeom prst="round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b="1" dirty="0"/>
                    <a:t>Scaling &amp; Label Engineering</a:t>
                  </a:r>
                </a:p>
              </p:txBody>
            </p:sp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79E17923-8F07-F185-07E3-A4CD24AB3AB6}"/>
                    </a:ext>
                  </a:extLst>
                </p:cNvPr>
                <p:cNvCxnSpPr>
                  <a:cxnSpLocks/>
                  <a:stCxn id="6" idx="2"/>
                  <a:endCxn id="7" idx="0"/>
                </p:cNvCxnSpPr>
                <p:nvPr/>
              </p:nvCxnSpPr>
              <p:spPr>
                <a:xfrm>
                  <a:off x="9555480" y="4006175"/>
                  <a:ext cx="0" cy="431120"/>
                </a:xfrm>
                <a:prstGeom prst="straightConnector1">
                  <a:avLst/>
                </a:prstGeom>
                <a:ln>
                  <a:solidFill>
                    <a:schemeClr val="bg1">
                      <a:lumMod val="50000"/>
                      <a:lumOff val="50000"/>
                    </a:schemeClr>
                  </a:solidFill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FF5EB26C-EF99-9E5F-0D82-8846245BA75C}"/>
                    </a:ext>
                  </a:extLst>
                </p:cNvPr>
                <p:cNvCxnSpPr>
                  <a:cxnSpLocks/>
                  <a:stCxn id="7" idx="2"/>
                  <a:endCxn id="8" idx="0"/>
                </p:cNvCxnSpPr>
                <p:nvPr/>
              </p:nvCxnSpPr>
              <p:spPr>
                <a:xfrm>
                  <a:off x="9555480" y="5407745"/>
                  <a:ext cx="0" cy="355430"/>
                </a:xfrm>
                <a:prstGeom prst="straightConnector1">
                  <a:avLst/>
                </a:prstGeom>
                <a:ln>
                  <a:solidFill>
                    <a:schemeClr val="bg1">
                      <a:lumMod val="50000"/>
                      <a:lumOff val="50000"/>
                    </a:schemeClr>
                  </a:solidFill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1471F67-F3EE-2D2C-9707-85647D109200}"/>
                </a:ext>
              </a:extLst>
            </p:cNvPr>
            <p:cNvSpPr/>
            <p:nvPr/>
          </p:nvSpPr>
          <p:spPr>
            <a:xfrm>
              <a:off x="9747808" y="5733055"/>
              <a:ext cx="1577488" cy="763178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Sequence Preparation</a:t>
              </a:r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56F2C4C-5C59-49F4-3D41-121559D4945C}"/>
              </a:ext>
            </a:extLst>
          </p:cNvPr>
          <p:cNvCxnSpPr>
            <a:cxnSpLocks/>
          </p:cNvCxnSpPr>
          <p:nvPr/>
        </p:nvCxnSpPr>
        <p:spPr>
          <a:xfrm>
            <a:off x="10536552" y="5444542"/>
            <a:ext cx="0" cy="288513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223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B0F4B-A787-B278-E741-E66B1F14D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ptos" panose="020B0004020202020204" pitchFamily="34" charset="0"/>
              </a:rPr>
              <a:t>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D041D-2F08-D472-3CEC-7883F01D0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8"/>
            <a:ext cx="10353762" cy="5125551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>
                <a:solidFill>
                  <a:schemeClr val="tx1"/>
                </a:solidFill>
                <a:latin typeface="Aptos" panose="020B0004020202020204" pitchFamily="34" charset="0"/>
              </a:rPr>
              <a:t>Model Type</a:t>
            </a:r>
          </a:p>
          <a:p>
            <a:pPr marL="36900" indent="0">
              <a:buNone/>
            </a:pPr>
            <a:r>
              <a:rPr lang="en-IN" b="1" dirty="0">
                <a:solidFill>
                  <a:schemeClr val="tx1"/>
                </a:solidFill>
                <a:latin typeface="Aptos" panose="020B0004020202020204" pitchFamily="34" charset="0"/>
              </a:rPr>
              <a:t>	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Deep GRU sequence model with bidirectional context</a:t>
            </a:r>
            <a:b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IN" b="1" dirty="0">
                <a:solidFill>
                  <a:schemeClr val="tx1"/>
                </a:solidFill>
                <a:latin typeface="Aptos" panose="020B0004020202020204" pitchFamily="34" charset="0"/>
              </a:rPr>
              <a:t>	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Captures lap-by-lap temporal dependencies in race data</a:t>
            </a:r>
            <a:endParaRPr lang="en-IN" b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r>
              <a:rPr lang="en-IN" b="1" dirty="0">
                <a:solidFill>
                  <a:schemeClr val="tx1"/>
                </a:solidFill>
                <a:latin typeface="Aptos" panose="020B0004020202020204" pitchFamily="34" charset="0"/>
              </a:rPr>
              <a:t>Input &amp; Output</a:t>
            </a:r>
          </a:p>
          <a:p>
            <a:pPr marL="36900" indent="0">
              <a:buNone/>
            </a:pPr>
            <a:r>
              <a:rPr lang="en-IN" b="1" dirty="0">
                <a:solidFill>
                  <a:schemeClr val="tx1"/>
                </a:solidFill>
                <a:latin typeface="Aptos" panose="020B0004020202020204" pitchFamily="34" charset="0"/>
              </a:rPr>
              <a:t>	</a:t>
            </a: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Input: 15 consecutive laps of engineered features</a:t>
            </a:r>
          </a:p>
          <a:p>
            <a:pPr marL="36900" indent="0">
              <a:buNone/>
            </a:pP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	Output: Predicted number of laps until next pit stop</a:t>
            </a:r>
          </a:p>
          <a:p>
            <a:r>
              <a:rPr lang="en-IN" b="1" dirty="0">
                <a:solidFill>
                  <a:schemeClr val="tx1"/>
                </a:solidFill>
                <a:latin typeface="Aptos" panose="020B0004020202020204" pitchFamily="34" charset="0"/>
              </a:rPr>
              <a:t>Layer Structure</a:t>
            </a:r>
          </a:p>
          <a:p>
            <a:pPr marL="36900" indent="0">
              <a:buNone/>
            </a:pPr>
            <a:r>
              <a:rPr lang="en-IN" b="1" dirty="0">
                <a:solidFill>
                  <a:schemeClr val="tx1"/>
                </a:solidFill>
                <a:latin typeface="Aptos" panose="020B0004020202020204" pitchFamily="34" charset="0"/>
              </a:rPr>
              <a:t>	</a:t>
            </a: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 Bidirectional GRU (64 units, </a:t>
            </a:r>
            <a:r>
              <a:rPr lang="en-IN" dirty="0" err="1">
                <a:solidFill>
                  <a:schemeClr val="tx1"/>
                </a:solidFill>
                <a:latin typeface="Aptos" panose="020B0004020202020204" pitchFamily="34" charset="0"/>
              </a:rPr>
              <a:t>return_sequences</a:t>
            </a: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=True, dropout=0.2) </a:t>
            </a:r>
          </a:p>
          <a:p>
            <a:pPr marL="36900" indent="0">
              <a:buNone/>
            </a:pPr>
            <a:r>
              <a:rPr lang="en-IN" b="1" dirty="0">
                <a:solidFill>
                  <a:schemeClr val="tx1"/>
                </a:solidFill>
                <a:latin typeface="Aptos" panose="020B0004020202020204" pitchFamily="34" charset="0"/>
              </a:rPr>
              <a:t>	</a:t>
            </a: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 GRU (32 units, </a:t>
            </a:r>
            <a:r>
              <a:rPr lang="en-IN" dirty="0" err="1">
                <a:solidFill>
                  <a:schemeClr val="tx1"/>
                </a:solidFill>
                <a:latin typeface="Aptos" panose="020B0004020202020204" pitchFamily="34" charset="0"/>
              </a:rPr>
              <a:t>return_sequences</a:t>
            </a: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=False, dropout=0.2)</a:t>
            </a:r>
            <a:endParaRPr lang="en-IN" b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36900" indent="0">
              <a:buNone/>
            </a:pPr>
            <a:r>
              <a:rPr lang="en-IN" b="1" dirty="0">
                <a:solidFill>
                  <a:schemeClr val="tx1"/>
                </a:solidFill>
                <a:latin typeface="Aptos" panose="020B0004020202020204" pitchFamily="34" charset="0"/>
              </a:rPr>
              <a:t>	</a:t>
            </a: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 Dense (64 units, </a:t>
            </a:r>
            <a:r>
              <a:rPr lang="en-IN" dirty="0" err="1">
                <a:solidFill>
                  <a:schemeClr val="tx1"/>
                </a:solidFill>
                <a:latin typeface="Aptos" panose="020B0004020202020204" pitchFamily="34" charset="0"/>
              </a:rPr>
              <a:t>ReLU</a:t>
            </a: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) → Dropout (0.3)</a:t>
            </a:r>
          </a:p>
          <a:p>
            <a:pPr marL="36900" indent="0">
              <a:buNone/>
            </a:pP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	 Dense (32 units, </a:t>
            </a:r>
            <a:r>
              <a:rPr lang="en-IN" dirty="0" err="1">
                <a:solidFill>
                  <a:schemeClr val="tx1"/>
                </a:solidFill>
                <a:latin typeface="Aptos" panose="020B0004020202020204" pitchFamily="34" charset="0"/>
              </a:rPr>
              <a:t>ReLU</a:t>
            </a: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) → Dropout (0.2)</a:t>
            </a:r>
          </a:p>
          <a:p>
            <a:pPr marL="36900" indent="0">
              <a:buNone/>
            </a:pP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	 Output Layer (1 unit): regression prediction</a:t>
            </a:r>
            <a:endParaRPr lang="en-IN" b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r>
              <a:rPr lang="en-IN" b="1" dirty="0">
                <a:solidFill>
                  <a:schemeClr val="tx1"/>
                </a:solidFill>
                <a:latin typeface="Aptos" panose="020B0004020202020204" pitchFamily="34" charset="0"/>
              </a:rPr>
              <a:t>Regularization &amp; Optimization</a:t>
            </a:r>
          </a:p>
          <a:p>
            <a:pPr marL="36900" indent="0">
              <a:buNone/>
            </a:pPr>
            <a:r>
              <a:rPr lang="en-IN" b="1" dirty="0">
                <a:solidFill>
                  <a:schemeClr val="tx1"/>
                </a:solidFill>
                <a:latin typeface="Aptos" panose="020B0004020202020204" pitchFamily="34" charset="0"/>
              </a:rPr>
              <a:t>	</a:t>
            </a: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Dropout: prevents overfitting</a:t>
            </a:r>
          </a:p>
          <a:p>
            <a:pPr marL="36900" indent="0">
              <a:buNone/>
            </a:pP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	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Optimizer: RMSprop (learning rate = 0.0005</a:t>
            </a:r>
            <a:endParaRPr lang="en-IN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36900" indent="0">
              <a:buNone/>
            </a:pPr>
            <a:r>
              <a:rPr lang="en-IN" dirty="0">
                <a:solidFill>
                  <a:schemeClr val="tx1"/>
                </a:solidFill>
                <a:latin typeface="Aptos" panose="020B0004020202020204" pitchFamily="34" charset="0"/>
              </a:rPr>
              <a:t>	L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oss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function: Mean Squared Error (MSE)</a:t>
            </a:r>
            <a:endParaRPr lang="en-IN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Training Strategy </a:t>
            </a:r>
          </a:p>
          <a:p>
            <a:pPr marL="36900" indent="0">
              <a:buNone/>
            </a:pPr>
            <a:r>
              <a:rPr lang="en-IN" b="1" dirty="0">
                <a:solidFill>
                  <a:schemeClr val="tx1"/>
                </a:solidFill>
                <a:latin typeface="Aptos" panose="020B0004020202020204" pitchFamily="34" charset="0"/>
              </a:rPr>
              <a:t>	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EarlyStopping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: monitors validation loss, restores best weight</a:t>
            </a:r>
          </a:p>
          <a:p>
            <a:pPr marL="36900" indent="0">
              <a:buNone/>
            </a:pPr>
            <a:r>
              <a:rPr lang="en-IN" b="1" dirty="0">
                <a:solidFill>
                  <a:schemeClr val="tx1"/>
                </a:solidFill>
                <a:latin typeface="Aptos" panose="020B0004020202020204" pitchFamily="34" charset="0"/>
              </a:rPr>
              <a:t>	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ReduceLROnPlateau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: lowers learning rate on plateau</a:t>
            </a:r>
            <a:endParaRPr lang="en-IN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605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5CB840F-8E41-4CA5-B79B-25CC80AD2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01CC60-037C-AC84-F75D-4A80142B8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078749" cy="9704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80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Training Curves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2598712-B99B-2779-5C94-96D576E2A7E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913795" y="1732449"/>
            <a:ext cx="3078749" cy="448208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buFont typeface="Wingdings 2" charset="2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  <a:latin typeface="Aptos" panose="020B0004020202020204" pitchFamily="34" charset="0"/>
              </a:rPr>
              <a:t>GRU model shows consistent learning across 100 epochs </a:t>
            </a:r>
          </a:p>
          <a:p>
            <a:pPr marL="0" marR="0" lvl="0" indent="0" fontAlgn="base">
              <a:buFont typeface="Wingdings 2" charset="2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  <a:latin typeface="Aptos" panose="020B0004020202020204" pitchFamily="34" charset="0"/>
            </a:endParaRPr>
          </a:p>
          <a:p>
            <a:pPr marL="0" marR="0" lvl="0" indent="0" fontAlgn="base">
              <a:buFont typeface="Wingdings 2" charset="2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  <a:latin typeface="Aptos" panose="020B0004020202020204" pitchFamily="34" charset="0"/>
              </a:rPr>
              <a:t>Training and validation loss (MSE) both decrease smoothly </a:t>
            </a:r>
          </a:p>
          <a:p>
            <a:pPr marL="0" marR="0" lvl="0" indent="0" fontAlgn="base">
              <a:buFont typeface="Wingdings 2" charset="2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  <a:latin typeface="Aptos" panose="020B0004020202020204" pitchFamily="34" charset="0"/>
            </a:endParaRPr>
          </a:p>
          <a:p>
            <a:pPr marL="0" marR="0" lvl="0" indent="0" fontAlgn="base">
              <a:buFont typeface="Wingdings 2" charset="2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  <a:latin typeface="Aptos" panose="020B0004020202020204" pitchFamily="34" charset="0"/>
              </a:rPr>
              <a:t>MAE drops to ~3.86 laps, indicating meaningful prediction accuracy </a:t>
            </a:r>
          </a:p>
          <a:p>
            <a:pPr marL="0" marR="0" lvl="0" indent="0" fontAlgn="base">
              <a:buFont typeface="Wingdings 2" charset="2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  <a:latin typeface="Aptos" panose="020B0004020202020204" pitchFamily="34" charset="0"/>
            </a:endParaRPr>
          </a:p>
          <a:p>
            <a:pPr marL="0" marR="0" lvl="0" indent="0" fontAlgn="base">
              <a:buFont typeface="Wingdings 2" charset="2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  <a:latin typeface="Aptos" panose="020B0004020202020204" pitchFamily="34" charset="0"/>
              </a:rPr>
              <a:t>No signs of overfitting — validation tracks training closel</a:t>
            </a:r>
            <a:r>
              <a:rPr lang="en-US" altLang="en-US" sz="16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  <a:latin typeface="Aptos" panose="020B0004020202020204" pitchFamily="34" charset="0"/>
              </a:rPr>
              <a:t>y</a:t>
            </a:r>
            <a:endParaRPr kumimoji="0" lang="en-US" altLang="en-US" sz="1600" b="0" i="0" u="none" strike="noStrike" cap="none" normalizeH="0" baseline="0" dirty="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  <a:latin typeface="Aptos" panose="020B0004020202020204" pitchFamily="34" charset="0"/>
            </a:endParaRPr>
          </a:p>
          <a:p>
            <a:pPr marL="0" marR="0" lvl="0" indent="0" fontAlgn="base">
              <a:buFont typeface="Wingdings 2" charset="2"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  <a:latin typeface="Aptos" panose="020B0004020202020204" pitchFamily="34" charset="0"/>
            </a:endParaRPr>
          </a:p>
        </p:txBody>
      </p:sp>
      <p:pic>
        <p:nvPicPr>
          <p:cNvPr id="8" name="Content Placeholder 7" descr="A screenshot of a graph&#10;&#10;AI-generated content may be incorrect.">
            <a:extLst>
              <a:ext uri="{FF2B5EF4-FFF2-40B4-BE49-F238E27FC236}">
                <a16:creationId xmlns:a16="http://schemas.microsoft.com/office/drawing/2014/main" id="{BC62983B-B4E7-29B2-0DE8-C1BA1B609B8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906339" y="1859782"/>
            <a:ext cx="6642193" cy="313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1156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5CB840F-8E41-4CA5-B79B-25CC80AD2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DB36DB-4542-6C4D-33F7-DF7E25423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078749" cy="9704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8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  <a:latin typeface="Aptos" panose="020B0004020202020204" pitchFamily="34" charset="0"/>
              </a:rPr>
              <a:t>Predictions vs True Values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D58F0849-2EC6-8787-E681-759F0FC93A4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913795" y="1732449"/>
            <a:ext cx="3078749" cy="448208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lvl="0" indent="0" fontAlgn="base">
              <a:buFont typeface="Wingdings 2" charset="2"/>
              <a:buChar char="•"/>
            </a:pPr>
            <a:r>
              <a:rPr lang="en-US" sz="1600" dirty="0">
                <a:solidFill>
                  <a:schemeClr val="bg1"/>
                </a:solidFill>
                <a:latin typeface="Aptos" panose="020B0004020202020204" pitchFamily="34" charset="0"/>
              </a:rPr>
              <a:t>Predictions cluster across a wide range of pit stop laps</a:t>
            </a:r>
            <a:endParaRPr kumimoji="0" lang="en-US" altLang="en-US" sz="1600" i="0" u="none" strike="noStrike" cap="none" normalizeH="0" baseline="0" dirty="0">
              <a:ln>
                <a:solidFill>
                  <a:srgbClr val="404040">
                    <a:alpha val="10000"/>
                  </a:srgbClr>
                </a:solidFill>
              </a:ln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0" lvl="0" indent="0" fontAlgn="base">
              <a:buFont typeface="Wingdings 2" charset="2"/>
              <a:buChar char="•"/>
            </a:pPr>
            <a:r>
              <a:rPr lang="en-US" sz="1600" dirty="0">
                <a:solidFill>
                  <a:schemeClr val="bg1"/>
                </a:solidFill>
                <a:latin typeface="Aptos" panose="020B0004020202020204" pitchFamily="34" charset="0"/>
              </a:rPr>
              <a:t>Most points fall below the perfect fit line → slight underprediction bias </a:t>
            </a:r>
            <a:endParaRPr kumimoji="0" lang="en-US" altLang="en-US" sz="1600" i="0" u="none" strike="noStrike" cap="none" normalizeH="0" baseline="0" dirty="0">
              <a:ln>
                <a:solidFill>
                  <a:srgbClr val="404040">
                    <a:alpha val="10000"/>
                  </a:srgbClr>
                </a:solidFill>
              </a:ln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0" lvl="0" indent="0" fontAlgn="base">
              <a:buFont typeface="Wingdings 2" charset="2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</a:rPr>
              <a:t>clear diagonal trend indicates the model captures lap-level patterns </a:t>
            </a:r>
          </a:p>
          <a:p>
            <a:pPr marL="0" lvl="0" indent="0" fontAlgn="base">
              <a:buFont typeface="Wingdings 2" charset="2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chemeClr val="bg1"/>
                </a:solidFill>
                <a:latin typeface="Aptos" panose="020B0004020202020204" pitchFamily="34" charset="0"/>
              </a:rPr>
              <a:t>Useful for diagnosing model behavior and guiding future improvements </a:t>
            </a:r>
          </a:p>
          <a:p>
            <a:pPr marL="0" marR="0" lvl="0" indent="0" fontAlgn="base">
              <a:buFont typeface="Wingdings 2" charset="2"/>
              <a:buNone/>
              <a:tabLst/>
            </a:pPr>
            <a:endParaRPr kumimoji="0" lang="en-US" altLang="en-US" sz="1600" i="0" u="none" strike="noStrike" cap="none" normalizeH="0" baseline="0" dirty="0">
              <a:ln>
                <a:solidFill>
                  <a:srgbClr val="404040">
                    <a:alpha val="10000"/>
                  </a:srgbClr>
                </a:solidFill>
              </a:ln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pic>
        <p:nvPicPr>
          <p:cNvPr id="4" name="Picture 3" descr="A graph of blue dots with red line&#10;&#10;AI-generated content may be incorrect.">
            <a:extLst>
              <a:ext uri="{FF2B5EF4-FFF2-40B4-BE49-F238E27FC236}">
                <a16:creationId xmlns:a16="http://schemas.microsoft.com/office/drawing/2014/main" id="{6FB619C5-A09A-83CE-9745-CB908FEDA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420" y="643466"/>
            <a:ext cx="5000031" cy="5571067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5BA07A4-C280-AE82-4C0B-CB535D7A0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diagonal trend indicates the model captures lap-level patterns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B7CD7CF-BCB3-210A-D30A-C919D7DEA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diagonal trend indicates the model captures lap-level patterns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6643A07-0ED8-CEB3-5DB5-3105A70BE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diagonal trend indicates the model captures lap-level patterns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8261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5CB840F-8E41-4CA5-B79B-25CC80AD2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0B3D5-A924-81E3-B33E-018F412C3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078749" cy="9704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8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  <a:latin typeface="Aptos" panose="020B0004020202020204" pitchFamily="34" charset="0"/>
              </a:rPr>
              <a:t>Residuals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04460B8-5C23-63BC-30C6-3BE34FAB6DF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913795" y="1732449"/>
            <a:ext cx="3078749" cy="448208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buFont typeface="Wingdings 2" charset="2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  <a:latin typeface="Aptos" panose="020B0004020202020204" pitchFamily="34" charset="0"/>
              </a:rPr>
              <a:t>Residuals cluster around −3 to −2 laps </a:t>
            </a:r>
          </a:p>
          <a:p>
            <a:pPr marL="0" marR="0" lvl="0" indent="0" fontAlgn="base">
              <a:buFont typeface="Wingdings 2" charset="2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  <a:latin typeface="Aptos" panose="020B0004020202020204" pitchFamily="34" charset="0"/>
              </a:rPr>
              <a:t>Indicates mild underprediction bias in pit stop timing</a:t>
            </a:r>
          </a:p>
          <a:p>
            <a:pPr marL="0" marR="0" lvl="0" indent="0" fontAlgn="base">
              <a:buFont typeface="Wingdings 2" charset="2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  <a:latin typeface="Aptos" panose="020B0004020202020204" pitchFamily="34" charset="0"/>
              </a:rPr>
              <a:t>Useful for diagnosing prediction reliability and guiding improvements </a:t>
            </a:r>
          </a:p>
          <a:p>
            <a:pPr marL="0" marR="0" lvl="0" indent="0" fontAlgn="base">
              <a:buFont typeface="Wingdings 2" charset="2"/>
              <a:buNone/>
              <a:tabLst/>
            </a:pPr>
            <a:endParaRPr kumimoji="0" lang="en-US" altLang="en-US" sz="1600" i="0" u="none" strike="noStrike" cap="none" normalizeH="0" baseline="0" dirty="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  <a:latin typeface="Aptos" panose="020B0004020202020204" pitchFamily="34" charset="0"/>
            </a:endParaRPr>
          </a:p>
        </p:txBody>
      </p:sp>
      <p:pic>
        <p:nvPicPr>
          <p:cNvPr id="21" name="Content Placeholder 20" descr="A graph with a red line&#10;&#10;AI-generated content may be incorrect.">
            <a:extLst>
              <a:ext uri="{FF2B5EF4-FFF2-40B4-BE49-F238E27FC236}">
                <a16:creationId xmlns:a16="http://schemas.microsoft.com/office/drawing/2014/main" id="{6E892919-B176-4DFB-B3D3-5B4BACBCCCD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906339" y="1892992"/>
            <a:ext cx="6642193" cy="3072014"/>
          </a:xfrm>
          <a:prstGeom prst="rect">
            <a:avLst/>
          </a:prstGeom>
        </p:spPr>
      </p:pic>
      <p:sp>
        <p:nvSpPr>
          <p:cNvPr id="22" name="Rectangle 1">
            <a:extLst>
              <a:ext uri="{FF2B5EF4-FFF2-40B4-BE49-F238E27FC236}">
                <a16:creationId xmlns:a16="http://schemas.microsoft.com/office/drawing/2014/main" id="{C0980136-4BB4-EAF4-58E5-CBAB33214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Indicates mild underprediction bias in pit stop timing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2A7D4E85-647E-09F3-C57F-E80E8B986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Indicates mild underprediction bias in pit stop timing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9725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87504-E9C6-493C-0156-80B387F47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Evaluation Metrics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E5478CD-6CD7-7099-AAE8-D74B375E83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469163"/>
            <a:ext cx="636296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MAE (Mean Absolute Error): </a:t>
            </a:r>
            <a:r>
              <a:rPr lang="en-IN" sz="1800" dirty="0">
                <a:solidFill>
                  <a:schemeClr val="tx1"/>
                </a:solidFill>
                <a:latin typeface="Aptos" panose="020B0004020202020204" pitchFamily="34" charset="0"/>
              </a:rPr>
              <a:t>3.86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laps</a:t>
            </a:r>
            <a:b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</a:b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→ On average, predictions are off by </a:t>
            </a:r>
            <a:r>
              <a:rPr lang="en-IN" sz="1800" dirty="0">
                <a:solidFill>
                  <a:schemeClr val="tx1"/>
                </a:solidFill>
                <a:latin typeface="Aptos" panose="020B0004020202020204" pitchFamily="34" charset="0"/>
              </a:rPr>
              <a:t>3.86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laps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RMSE (Root Mean Squared Error): </a:t>
            </a:r>
            <a:r>
              <a:rPr lang="en-IN" sz="1800" dirty="0">
                <a:solidFill>
                  <a:schemeClr val="tx1"/>
                </a:solidFill>
                <a:latin typeface="Aptos" panose="020B0004020202020204" pitchFamily="34" charset="0"/>
              </a:rPr>
              <a:t>5.30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laps</a:t>
            </a:r>
            <a:b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</a:b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→ Penalizes larger errors more heavily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b="1" dirty="0">
                <a:solidFill>
                  <a:schemeClr val="tx1"/>
                </a:solidFill>
                <a:latin typeface="Aptos" panose="020B0004020202020204" pitchFamily="34" charset="0"/>
              </a:rPr>
              <a:t>MSE (Mean Squared Error): </a:t>
            </a:r>
            <a:r>
              <a:rPr lang="en-US" sz="1800" dirty="0">
                <a:solidFill>
                  <a:schemeClr val="tx1"/>
                </a:solidFill>
                <a:latin typeface="Aptos" panose="020B0004020202020204" pitchFamily="34" charset="0"/>
              </a:rPr>
              <a:t>28.1 laps²</a:t>
            </a:r>
            <a:b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</a:b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→ </a:t>
            </a:r>
            <a:r>
              <a:rPr lang="en-US" sz="1800" dirty="0">
                <a:solidFill>
                  <a:schemeClr val="tx1"/>
                </a:solidFill>
                <a:latin typeface="Aptos" panose="020B0004020202020204" pitchFamily="34" charset="0"/>
              </a:rPr>
              <a:t> Squared error measure, highlights impact of large deviations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898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79FB2-28D1-B3CC-9C26-D115212FD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ptos" panose="020B0004020202020204" pitchFamily="34" charset="0"/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638B5-E0A4-0C2B-5475-49BDD0567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Underprediction bias → model tends to predict pit stops slightly earlier than actual</a:t>
            </a:r>
            <a:endParaRPr lang="en-IN" dirty="0">
              <a:latin typeface="Aptos" panose="020B0004020202020204" pitchFamily="34" charset="0"/>
            </a:endParaRPr>
          </a:p>
          <a:p>
            <a:r>
              <a:rPr lang="en-IN" dirty="0">
                <a:latin typeface="Aptos" panose="020B0004020202020204" pitchFamily="34" charset="0"/>
              </a:rPr>
              <a:t>Limited race context → current features omit stint number, race progress, tyre history</a:t>
            </a:r>
          </a:p>
          <a:p>
            <a:r>
              <a:rPr lang="en-IN" dirty="0">
                <a:latin typeface="Aptos" panose="020B0004020202020204" pitchFamily="34" charset="0"/>
              </a:rPr>
              <a:t>Generalization challenge → trained/tested on same season, risk of overfitting</a:t>
            </a:r>
          </a:p>
          <a:p>
            <a:r>
              <a:rPr lang="en-IN" dirty="0">
                <a:latin typeface="Aptos" panose="020B0004020202020204" pitchFamily="34" charset="0"/>
              </a:rPr>
              <a:t>Explainability gap → predictions are not yet interpretable for race engineers</a:t>
            </a:r>
          </a:p>
          <a:p>
            <a:endParaRPr lang="en-IN" dirty="0">
              <a:latin typeface="Aptos" panose="020B0004020202020204" pitchFamily="34" charset="0"/>
            </a:endParaRPr>
          </a:p>
          <a:p>
            <a:endParaRPr lang="en-IN" dirty="0">
              <a:latin typeface="Aptos" panose="020B0004020202020204" pitchFamily="34" charset="0"/>
            </a:endParaRPr>
          </a:p>
          <a:p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043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9ACD9-3318-30B0-1025-7A10CF0B0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ptos" panose="020B0004020202020204" pitchFamily="34" charset="0"/>
              </a:rPr>
              <a:t>Future 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F302C9-17DA-FE5D-D352-6A03F9F2C2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330665"/>
            <a:ext cx="906017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Add richer race context features (stint number, compound history, race progress)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Evaluate across multiple seasons and unseen Grands Prix for generalization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  <a:latin typeface="Aptos" panose="020B0004020202020204" pitchFamily="34" charset="0"/>
              </a:rPr>
              <a:t>Explore attention-based architectures (e.g., Transformer, Temporal Fusion Transformer)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Incorporate explainable AI methods for transparency and trust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Optimize hyperparameters and feature engineering to reduce bias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930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EEBCE-6349-5A97-406F-C6CB60DB8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ptos" panose="020B0004020202020204" pitchFamily="34" charset="0"/>
              </a:rPr>
              <a:t>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C24EA-996D-BB9C-2A08-7F22B3A30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latin typeface="Aptos" panose="020B0004020202020204" pitchFamily="34" charset="0"/>
              </a:rPr>
              <a:t>Strategic Decision Support</a:t>
            </a:r>
          </a:p>
          <a:p>
            <a:pPr marL="36900" indent="0">
              <a:buNone/>
            </a:pPr>
            <a:r>
              <a:rPr lang="en-US" dirty="0">
                <a:latin typeface="Aptos" panose="020B0004020202020204" pitchFamily="34" charset="0"/>
              </a:rPr>
              <a:t>	Provides engineers with data‑driven pit stop timing recommendations</a:t>
            </a:r>
          </a:p>
          <a:p>
            <a:pPr marL="36900" indent="0">
              <a:buNone/>
            </a:pPr>
            <a:r>
              <a:rPr lang="en-US" dirty="0">
                <a:latin typeface="Aptos" panose="020B0004020202020204" pitchFamily="34" charset="0"/>
              </a:rPr>
              <a:t>	Reduces reliance on intuition alone during high‑pressure race scenarios</a:t>
            </a:r>
          </a:p>
          <a:p>
            <a:r>
              <a:rPr lang="en-US" b="1" dirty="0">
                <a:latin typeface="Aptos" panose="020B0004020202020204" pitchFamily="34" charset="0"/>
              </a:rPr>
              <a:t>Performance Optimization</a:t>
            </a:r>
          </a:p>
          <a:p>
            <a:pPr marL="36900" indent="0">
              <a:buNone/>
            </a:pPr>
            <a:r>
              <a:rPr lang="en-US" dirty="0">
                <a:latin typeface="Aptos" panose="020B0004020202020204" pitchFamily="34" charset="0"/>
              </a:rPr>
              <a:t>	Minimizes time lost from poor pit strategies</a:t>
            </a:r>
          </a:p>
          <a:p>
            <a:pPr marL="36900" indent="0">
              <a:buNone/>
            </a:pPr>
            <a:r>
              <a:rPr lang="en-US" dirty="0">
                <a:latin typeface="Aptos" panose="020B0004020202020204" pitchFamily="34" charset="0"/>
              </a:rPr>
              <a:t>	Helps maximize </a:t>
            </a:r>
            <a:r>
              <a:rPr lang="en-US" dirty="0" err="1">
                <a:latin typeface="Aptos" panose="020B0004020202020204" pitchFamily="34" charset="0"/>
              </a:rPr>
              <a:t>tyre</a:t>
            </a:r>
            <a:r>
              <a:rPr lang="en-US" dirty="0">
                <a:latin typeface="Aptos" panose="020B0004020202020204" pitchFamily="34" charset="0"/>
              </a:rPr>
              <a:t> usage and race pace consistency</a:t>
            </a:r>
          </a:p>
          <a:p>
            <a:r>
              <a:rPr lang="en-US" b="1" dirty="0">
                <a:latin typeface="Aptos" panose="020B0004020202020204" pitchFamily="34" charset="0"/>
              </a:rPr>
              <a:t>Competitive Advantage</a:t>
            </a:r>
          </a:p>
          <a:p>
            <a:pPr marL="36900" indent="0">
              <a:buNone/>
            </a:pPr>
            <a:r>
              <a:rPr lang="en-US" dirty="0">
                <a:latin typeface="Aptos" panose="020B0004020202020204" pitchFamily="34" charset="0"/>
              </a:rPr>
              <a:t>	Predictive analytics give teams an edge in close races</a:t>
            </a:r>
          </a:p>
          <a:p>
            <a:pPr marL="36900" indent="0">
              <a:buNone/>
            </a:pPr>
            <a:r>
              <a:rPr lang="en-US" dirty="0">
                <a:latin typeface="Aptos" panose="020B0004020202020204" pitchFamily="34" charset="0"/>
              </a:rPr>
              <a:t>	Supports smarter, faster tactical calls compared to rivals</a:t>
            </a:r>
          </a:p>
          <a:p>
            <a:r>
              <a:rPr lang="en-US" b="1" dirty="0">
                <a:latin typeface="Aptos" panose="020B0004020202020204" pitchFamily="34" charset="0"/>
              </a:rPr>
              <a:t>Scalability</a:t>
            </a:r>
          </a:p>
          <a:p>
            <a:pPr marL="36900" indent="0">
              <a:buNone/>
            </a:pPr>
            <a:r>
              <a:rPr lang="en-US" dirty="0">
                <a:latin typeface="Aptos" panose="020B0004020202020204" pitchFamily="34" charset="0"/>
              </a:rPr>
              <a:t>	Framework adaptable to other motorsports (e.g., NASCAR, GT3)</a:t>
            </a:r>
          </a:p>
          <a:p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067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DA851-BA6F-4EBA-9913-46E8A0324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ptos" panose="020B0004020202020204" pitchFamily="34" charset="0"/>
              </a:rPr>
              <a:t>Conclusion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B49EF9-4354-5176-46C8-AE694768FC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879" y="2210717"/>
            <a:ext cx="11857659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Built a complete GRU pipeline for pit stop timing prediction, transforming raw FastF1 data into sequence‑based insights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Achieved single‑digit MAE with stable training/validation curves, proving the model learns meaningful race patterns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Honest evaluation revealed </a:t>
            </a:r>
            <a:r>
              <a:rPr lang="en-US" altLang="en-US" sz="160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mild underprediction bias, highlighting areas for improvement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Demonstrated strategic impact: data‑driven pit stop timing can reduce wasted time, optimize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tyre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usage, and provide a competitive edge in close races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Framework is scalable beyond Formula 1, with potential applications in other motorsports such as NASCAR and GT3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2369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12112</TotalTime>
  <Words>1084</Words>
  <Application>Microsoft Office PowerPoint</Application>
  <PresentationFormat>Widescreen</PresentationFormat>
  <Paragraphs>133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Calisto MT</vt:lpstr>
      <vt:lpstr>Wingdings 2</vt:lpstr>
      <vt:lpstr>Slate</vt:lpstr>
      <vt:lpstr>Optimal Pit Stop Prediction in F1</vt:lpstr>
      <vt:lpstr>Introduction</vt:lpstr>
      <vt:lpstr>Literature Review</vt:lpstr>
      <vt:lpstr>Research Gap </vt:lpstr>
      <vt:lpstr>Data Loading &amp; Preprocessing</vt:lpstr>
      <vt:lpstr>Model Architecture</vt:lpstr>
      <vt:lpstr>Training Curves</vt:lpstr>
      <vt:lpstr>Predictions vs True Values</vt:lpstr>
      <vt:lpstr>Residuals</vt:lpstr>
      <vt:lpstr>Evaluation Metrics</vt:lpstr>
      <vt:lpstr>Limitations</vt:lpstr>
      <vt:lpstr>Future work</vt:lpstr>
      <vt:lpstr>Business Impact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Nazifabanu Altaf Shaikh</dc:creator>
  <cp:lastModifiedBy>Nazifabanu Altaf Shaikh</cp:lastModifiedBy>
  <cp:revision>3</cp:revision>
  <dcterms:created xsi:type="dcterms:W3CDTF">2025-12-08T02:28:48Z</dcterms:created>
  <dcterms:modified xsi:type="dcterms:W3CDTF">2025-12-16T17:44:34Z</dcterms:modified>
</cp:coreProperties>
</file>